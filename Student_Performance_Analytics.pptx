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 anand jadhav" userId="f8ba832549dd451c" providerId="LiveId" clId="{9F6ACFA0-00DC-4D45-97D6-A5305E0D5E66}"/>
    <pc:docChg chg="modSld">
      <pc:chgData name="tej anand jadhav" userId="f8ba832549dd451c" providerId="LiveId" clId="{9F6ACFA0-00DC-4D45-97D6-A5305E0D5E66}" dt="2026-08-22T13:57:56.589" v="199" actId="207"/>
      <pc:docMkLst>
        <pc:docMk/>
      </pc:docMkLst>
      <pc:sldChg chg="addSp modSp mod">
        <pc:chgData name="tej anand jadhav" userId="f8ba832549dd451c" providerId="LiveId" clId="{9F6ACFA0-00DC-4D45-97D6-A5305E0D5E66}" dt="2026-08-22T13:57:56.589" v="199" actId="207"/>
        <pc:sldMkLst>
          <pc:docMk/>
          <pc:sldMk cId="0" sldId="256"/>
        </pc:sldMkLst>
        <pc:spChg chg="mod">
          <ac:chgData name="tej anand jadhav" userId="f8ba832549dd451c" providerId="LiveId" clId="{9F6ACFA0-00DC-4D45-97D6-A5305E0D5E66}" dt="2026-08-22T13:55:33.224" v="166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tej anand jadhav" userId="f8ba832549dd451c" providerId="LiveId" clId="{9F6ACFA0-00DC-4D45-97D6-A5305E0D5E66}" dt="2026-08-22T13:57:04.233" v="196" actId="207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tej anand jadhav" userId="f8ba832549dd451c" providerId="LiveId" clId="{9F6ACFA0-00DC-4D45-97D6-A5305E0D5E66}" dt="2026-08-22T13:57:56.589" v="199" actId="207"/>
          <ac:spMkLst>
            <pc:docMk/>
            <pc:sldMk cId="0" sldId="256"/>
            <ac:spMk id="11" creationId="{6789E469-08EB-A5BD-E5EA-28BB4EBF6AA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Calibri"/>
              </a:rPr>
              <a:t>Average Marks % by Subject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Math</c:v>
                </c:pt>
                <c:pt idx="1">
                  <c:v>Science</c:v>
                </c:pt>
                <c:pt idx="2">
                  <c:v>English</c:v>
                </c:pt>
                <c:pt idx="3">
                  <c:v>History</c:v>
                </c:pt>
                <c:pt idx="4">
                  <c:v>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68</c:v>
                </c:pt>
                <c:pt idx="2">
                  <c:v>81</c:v>
                </c:pt>
                <c:pt idx="3">
                  <c:v>75</c:v>
                </c:pt>
                <c:pt idx="4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8F-4893-938B-E06FE81B88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Calibri"/>
              </a:rPr>
              <a:t>Monthly Attendance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 %</c:v>
                </c:pt>
              </c:strCache>
            </c:strRef>
          </c:tx>
          <c:spPr>
            <a:ln w="38100" cap="flat">
              <a:solidFill>
                <a:srgbClr val="F2B44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441"/>
              </a:solidFill>
              <a:ln w="9525" cap="flat">
                <a:solidFill>
                  <a:srgbClr val="F2B44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85</c:v>
                </c:pt>
                <c:pt idx="2">
                  <c:v>90</c:v>
                </c:pt>
                <c:pt idx="3">
                  <c:v>82</c:v>
                </c:pt>
                <c:pt idx="4">
                  <c:v>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03-4420-86A8-C8658A19E8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1E2761"/>
                </a:solidFill>
                <a:latin typeface="Calibri"/>
              </a:rPr>
              <a:t>Pass / Fail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0EC-4371-959E-81545269E18E}"/>
              </c:ext>
            </c:extLst>
          </c:dPt>
          <c:dPt>
            <c:idx val="1"/>
            <c:bubble3D val="0"/>
            <c:spPr>
              <a:solidFill>
                <a:srgbClr val="F2B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EC-4371-959E-81545269E18E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EC-4371-959E-81545269E18E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EC-4371-959E-81545269E18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EC-4371-959E-81545269E1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5F7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1E2761"/>
                </a:solidFill>
                <a:latin typeface="Calibri"/>
              </a:rPr>
              <a:t>Teacher Ratings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 (out of 5)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T. Rao</c:v>
                </c:pt>
                <c:pt idx="1">
                  <c:v>T. Iyer</c:v>
                </c:pt>
                <c:pt idx="2">
                  <c:v>T. Shah</c:v>
                </c:pt>
                <c:pt idx="3">
                  <c:v>T. Khan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4.0999999999999996</c:v>
                </c:pt>
                <c:pt idx="2">
                  <c:v>3.8</c:v>
                </c:pt>
                <c:pt idx="3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91-4FAE-A54C-11F91F3DF2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088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657600" cy="36576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5" name="Image 0" descr="icons/cap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0287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academic data into decisions that help students succeed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218981"/>
            <a:ext cx="7315200" cy="610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By:-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 Gaikwad &amp;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- Tej Jadhav     </a:t>
            </a:r>
          </a:p>
        </p:txBody>
      </p:sp>
      <p:sp>
        <p:nvSpPr>
          <p:cNvPr id="10" name="Text 7"/>
          <p:cNvSpPr/>
          <p:nvPr/>
        </p:nvSpPr>
        <p:spPr>
          <a:xfrm>
            <a:off x="822960" y="5989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</a:rPr>
              <a:t>Data Analytics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89E469-08EB-A5BD-E5EA-28BB4EBF6AA2}"/>
              </a:ext>
            </a:extLst>
          </p:cNvPr>
          <p:cNvSpPr/>
          <p:nvPr/>
        </p:nvSpPr>
        <p:spPr>
          <a:xfrm>
            <a:off x="822960" y="5296619"/>
            <a:ext cx="3041674" cy="5326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performance analytics means in education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is the process of collecting, analyzing, and visualizing academic data — attendance, marks, and teacher ratings — to reveal patterns that raw records alone can't show.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targe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30849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9535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at-risk students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326440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low attendance or falling marks early, before it becomes a crisis.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ons/cha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404507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91363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hidden trends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34440" y="42245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subjects, classes, or teaching methods are working.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ons/user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" y="500519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87375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fair evaluation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34440" y="518464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teachers and admins objective, data-backed insight.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772400" y="160020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F6F7FB"/>
          </a:solidFill>
          <a:ln/>
        </p:spPr>
      </p:sp>
      <p:sp>
        <p:nvSpPr>
          <p:cNvPr id="18" name="Text 13"/>
          <p:cNvSpPr/>
          <p:nvPr/>
        </p:nvSpPr>
        <p:spPr>
          <a:xfrm>
            <a:off x="804672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0467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6000" dirty="0"/>
          </a:p>
        </p:txBody>
      </p:sp>
      <p:sp>
        <p:nvSpPr>
          <p:cNvPr id="20" name="Text 15"/>
          <p:cNvSpPr/>
          <p:nvPr/>
        </p:nvSpPr>
        <p:spPr>
          <a:xfrm>
            <a:off x="8046720" y="31089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academic interventions succeed more often when based on data trends rather than intuition alone*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046720" y="4251960"/>
            <a:ext cx="32918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46720" y="4434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records is slow and inconsistent — analytics makes it fast, repeatable, and objective.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046720" y="5760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*Illustrative figure for discussion purposes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student and teacher data is collected and stored in MySQL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school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225742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registers, exam marks, and teacher-class records logged at the school.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50208" y="2834640"/>
            <a:ext cx="301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441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251960" y="182880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1031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icons/db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585" y="225742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Storage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26280" y="33375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into relational tables: students, attendance, marks, teachers.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653528" y="2834640"/>
            <a:ext cx="301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44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7955280" y="182880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21031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icons/tabl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905" y="2257425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Extract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29600" y="33375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pull clean, joined datasets into Python for analysis.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52120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3" name="Text 18"/>
          <p:cNvSpPr/>
          <p:nvPr/>
        </p:nvSpPr>
        <p:spPr>
          <a:xfrm>
            <a:off x="548640" y="5212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2514600" y="52120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5" name="Text 20"/>
          <p:cNvSpPr/>
          <p:nvPr/>
        </p:nvSpPr>
        <p:spPr>
          <a:xfrm>
            <a:off x="2514600" y="5212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480560" y="52120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7" name="Text 22"/>
          <p:cNvSpPr/>
          <p:nvPr/>
        </p:nvSpPr>
        <p:spPr>
          <a:xfrm>
            <a:off x="4480560" y="5212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446520" y="52120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9" name="Text 24"/>
          <p:cNvSpPr/>
          <p:nvPr/>
        </p:nvSpPr>
        <p:spPr>
          <a:xfrm>
            <a:off x="6446520" y="5212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teachers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48640" y="5989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by student_id / teacher_id foreign keys, enabling joined queries across attendance, marks, and staffing.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Research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First-hand input gathered directly from students and teachers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the MySQL records, primary research adds context numbers alone can't capture — the reasons behind attendance dips or performance changes.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comment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29477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8163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student surveys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312724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 question form on study habits, attendance barriers, and satisfaction with subjects.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8221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ons/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3935349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80390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interviews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34440" y="41148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conversations to understand context behind low-performing classes.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809744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ons/cli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" y="4922901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79145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observation notes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34440" y="510235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notes on engagement during a few sample sessions.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223760" y="160020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6F7FB"/>
          </a:solidFill>
          <a:ln/>
        </p:spPr>
      </p:sp>
      <p:sp>
        <p:nvSpPr>
          <p:cNvPr id="18" name="Text 13"/>
          <p:cNvSpPr/>
          <p:nvPr/>
        </p:nvSpPr>
        <p:spPr>
          <a:xfrm>
            <a:off x="749808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498080" y="2194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tells you WHAT happened — attendance dropped, marks fell. Primary research tells you WHY.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498080" y="3246120"/>
            <a:ext cx="38404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498080" y="34747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class with falling marks might trace back to a scheduling clash, not lack of ability — something only a quick survey or interview reveals.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498080" y="5394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replace with your actual survey/interview findings once collected.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Research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studies and published data that inform this project's approach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boo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22471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literature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studies on the link between attendance and academic performance, used to validate the metrics chosen here.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82880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1031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glob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298" y="224713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8803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dept. reports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26280" y="3383280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government/institutional statistics on dropout rates and pass percentages, for benchmarking.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182880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1031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s/fileal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618" y="224713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8803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case studies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0" y="3383280"/>
            <a:ext cx="2880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other schools/platforms have used dashboards to support teacher decision-making.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USED IN THIS PROJECT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5394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sources aren't analyzed directly — they're used to sanity-check thresholds (e.g. the 75% attendance cutoff) and justify why these particular metrics were chosen over others.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records to actionable insight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3796" y="219456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63524" y="2286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71016" y="260604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icons/db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321" y="276034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" y="3429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3796" y="3794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surveys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92324" y="2926080"/>
            <a:ext cx="283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B441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894076" y="219456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3003804" y="2286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511296" y="260604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4" name="Image 1" descr="icons/broom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5601" y="2760345"/>
            <a:ext cx="377190" cy="3771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94076" y="3429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894076" y="3794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32604" y="2926080"/>
            <a:ext cx="283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B441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5134356" y="219456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5244084" y="2286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751576" y="260604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2" descr="icons/chart_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881" y="2760345"/>
            <a:ext cx="377190" cy="3771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34356" y="3429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134356" y="3794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072884" y="2926080"/>
            <a:ext cx="283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B441"/>
                </a:solidFill>
              </a:rPr>
              <a:t>→</a:t>
            </a:r>
            <a:endParaRPr lang="en-US" sz="2400" dirty="0"/>
          </a:p>
        </p:txBody>
      </p:sp>
      <p:sp>
        <p:nvSpPr>
          <p:cNvPr id="25" name="Shape 20"/>
          <p:cNvSpPr/>
          <p:nvPr/>
        </p:nvSpPr>
        <p:spPr>
          <a:xfrm>
            <a:off x="7374636" y="219456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26" name="Text 21"/>
          <p:cNvSpPr/>
          <p:nvPr/>
        </p:nvSpPr>
        <p:spPr>
          <a:xfrm>
            <a:off x="7484364" y="2286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991856" y="260604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8" name="Image 3" descr="icons/pie_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6161" y="2760345"/>
            <a:ext cx="377190" cy="37719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74636" y="3429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374636" y="3794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Plotly/Matplotlib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313164" y="2926080"/>
            <a:ext cx="283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B441"/>
                </a:solidFill>
              </a:rPr>
              <a:t>→</a:t>
            </a:r>
            <a:endParaRPr lang="en-US" sz="2400" dirty="0"/>
          </a:p>
        </p:txBody>
      </p:sp>
      <p:sp>
        <p:nvSpPr>
          <p:cNvPr id="32" name="Shape 26"/>
          <p:cNvSpPr/>
          <p:nvPr/>
        </p:nvSpPr>
        <p:spPr>
          <a:xfrm>
            <a:off x="9614916" y="2194560"/>
            <a:ext cx="1920240" cy="210312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33" name="Text 27"/>
          <p:cNvSpPr/>
          <p:nvPr/>
        </p:nvSpPr>
        <p:spPr>
          <a:xfrm>
            <a:off x="9724644" y="2286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10232136" y="260604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5" name="Image 4" descr="icons/bulb_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6441" y="2760345"/>
            <a:ext cx="377190" cy="37719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14916" y="3429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9614916" y="3794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53796" y="48006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6F7FB"/>
          </a:solidFill>
          <a:ln/>
        </p:spPr>
      </p:sp>
      <p:sp>
        <p:nvSpPr>
          <p:cNvPr id="39" name="Text 32"/>
          <p:cNvSpPr/>
          <p:nvPr/>
        </p:nvSpPr>
        <p:spPr>
          <a:xfrm>
            <a:off x="973836" y="498348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feeds the next: raw records become clean tables, clean tables become metrics, metrics become charts, and charts become decisions teachers and admins can act on.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logic for cleaning and analyzing the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365760" cy="36576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 Load raw tables (students, attendance, marks, teachers) from MySQL into pandas DataFrames.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49424"/>
            <a:ext cx="365760" cy="36576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49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17627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each DataFrame for nulls, duplicates, and wrong data types.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365760" cy="36576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79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7066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duplicates exist → drop them. IF critical fields are missing → drop or impute.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2369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Standardize text fields (subject names, casing) and convert date columns.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7673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derived metrics: attendance %, marks %, pass/fail flag per student.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719072"/>
            <a:ext cx="365760" cy="36576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16459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and aggregate: average marks per subject, attendance per class, ratings per teacher.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2249424"/>
            <a:ext cx="365760" cy="36576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249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17627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attendance and marks summaries on student_id to build a combined view.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2779776"/>
            <a:ext cx="365760" cy="36576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779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7066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 at-risk records where attendance % and marks % both fall below threshold.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310128"/>
            <a:ext cx="365760" cy="36576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32369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END: Output clean summary tables ready for visualization.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pandas to clean and preprocess data for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ons/filt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185051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190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029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nulls with isnull(); fill or drop based on context.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61488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ons/broom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2874645"/>
            <a:ext cx="276606" cy="2766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30540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drop_duplicates() removes repeated attendance or marks entries.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785616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icons/chec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" y="3898773"/>
            <a:ext cx="276606" cy="2766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7673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formats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407822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dates, text casing, and subject naming.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809744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icons/clip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97" y="4922901"/>
            <a:ext cx="276606" cy="27660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7914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ranges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51023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impossible values, e.g. marks exceeding max_marks.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675120" y="1737360"/>
            <a:ext cx="4937760" cy="416052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/>
        </p:spPr>
      </p:sp>
      <p:sp>
        <p:nvSpPr>
          <p:cNvPr id="21" name="Text 15"/>
          <p:cNvSpPr/>
          <p:nvPr/>
        </p:nvSpPr>
        <p:spPr>
          <a:xfrm>
            <a:off x="6949440" y="1920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SNIPPET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949440" y="228600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duplicate rows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Standardize text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df["subject"] = (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df["subject"]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.str.strip()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.str.title()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Flag missing values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Validate marks range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 = df["marks"] &lt;= df["max_marks"]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df[valid]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Plotly and Matplotlib to visualize marks, attendance, and ratings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52120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035040" y="1737360"/>
          <a:ext cx="55778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6035040" y="3566160"/>
          <a:ext cx="26517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3"/>
          <p:cNvGraphicFramePr/>
          <p:nvPr/>
        </p:nvGraphicFramePr>
        <p:xfrm>
          <a:off x="8869680" y="3566160"/>
          <a:ext cx="27432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Text 2"/>
          <p:cNvSpPr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shown for illustration — replace with your actual analysis output.</a:t>
            </a:r>
            <a:endParaRPr lang="en-US" sz="1000" dirty="0"/>
          </a:p>
        </p:txBody>
      </p:sp>
      <p:sp>
        <p:nvSpPr>
          <p:cNvPr id="9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tells 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1031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pi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351" y="223685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76.4%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3429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marks across all subjects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4366260" y="21031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1" y="223685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880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520440" y="3429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pass percentage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0900" y="21031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s/u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631" y="223685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880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355080" y="3429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attendance vs. marks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35540" y="21031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ti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9271" y="223685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880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/ 5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189720" y="3429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teacher rating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11064240" cy="0"/>
          </a:xfrm>
          <a:prstGeom prst="line">
            <a:avLst/>
          </a:prstGeom>
          <a:noFill/>
          <a:ln w="12700">
            <a:solidFill>
              <a:srgbClr val="21295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48640" y="4718304"/>
            <a:ext cx="109728" cy="109728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459028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attendance below 75% show a marks drop of ~18 percentage points on average.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5285232"/>
            <a:ext cx="109728" cy="109728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28" name="Text 22"/>
          <p:cNvSpPr/>
          <p:nvPr/>
        </p:nvSpPr>
        <p:spPr>
          <a:xfrm>
            <a:off x="868680" y="515721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consistently outperforms other subjects — worth studying what's working there.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48640" y="5852160"/>
            <a:ext cx="109728" cy="109728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30" name="Text 24"/>
          <p:cNvSpPr/>
          <p:nvPr/>
        </p:nvSpPr>
        <p:spPr>
          <a:xfrm>
            <a:off x="868680" y="572414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subjects show pass rates below 65%, flagging a need for targeted support.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303520"/>
            <a:ext cx="3200400" cy="3200400"/>
          </a:xfrm>
          <a:prstGeom prst="ellipse">
            <a:avLst/>
          </a:prstGeom>
          <a:solidFill>
            <a:srgbClr val="F6F7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analytics improves decision-making in education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turning raw attendance, marks, and rating records into structured, visual insight, schools can move from reactive guesswork to proactive, evidence-based decisions — supporting students earlier and more fairly.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icons/lin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376047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367588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to forecast at-risk students before grades drop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cha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44462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436168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updated automatically from MySQL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ons/user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" y="51320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504748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intervention recommendations per student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680960" y="169164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1E2761"/>
          </a:solidFill>
          <a:ln/>
        </p:spPr>
      </p:sp>
      <p:sp>
        <p:nvSpPr>
          <p:cNvPr id="17" name="Shape 12"/>
          <p:cNvSpPr/>
          <p:nvPr/>
        </p:nvSpPr>
        <p:spPr>
          <a:xfrm>
            <a:off x="9189720" y="2011680"/>
            <a:ext cx="914400" cy="9144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3" descr="icons/flag_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5460" y="221742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0956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doesn't replace teachers —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909560" y="34564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them better information to act on.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909560" y="4663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1101</Words>
  <Application>Microsoft Office PowerPoint</Application>
  <PresentationFormat>Widescreen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 anand jadhav</cp:lastModifiedBy>
  <cp:revision>1</cp:revision>
  <dcterms:created xsi:type="dcterms:W3CDTF">2026-08-21T14:03:51Z</dcterms:created>
  <dcterms:modified xsi:type="dcterms:W3CDTF">2026-08-22T13:58:01Z</dcterms:modified>
</cp:coreProperties>
</file>